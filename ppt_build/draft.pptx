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e40fa58b24c85" /><Relationship Type="http://schemas.openxmlformats.org/officeDocument/2006/relationships/extended-properties" Target="/docProps/app.xml" Id="R2197b13cb390406d" /><Relationship Type="http://schemas.openxmlformats.org/officeDocument/2006/relationships/officeDocument" Target="/ppt/presentation.xml" Id="R95678d70e4a8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35e0b675fc4017"/>
  </p:sldMasterIdLst>
  <p:notesMasterIdLst>
    <p:notesMasterId xmlns:r="http://schemas.openxmlformats.org/officeDocument/2006/relationships" r:id="Rbd85708999504995"/>
  </p:notesMasterIdLst>
  <p:sldIdLst>
    <p:sldId xmlns:r="http://schemas.openxmlformats.org/officeDocument/2006/relationships" id="256" r:id="Re5ec33ec70e448da"/>
    <p:sldId xmlns:r="http://schemas.openxmlformats.org/officeDocument/2006/relationships" id="257" r:id="R0116e665b5774dfc"/>
    <p:sldId xmlns:r="http://schemas.openxmlformats.org/officeDocument/2006/relationships" id="258" r:id="R33c0d7014443465d"/>
    <p:sldId xmlns:r="http://schemas.openxmlformats.org/officeDocument/2006/relationships" id="259" r:id="R9d8d969cb9584c7b"/>
    <p:sldId xmlns:r="http://schemas.openxmlformats.org/officeDocument/2006/relationships" id="260" r:id="R0d28c2d2522942f1"/>
    <p:sldId xmlns:r="http://schemas.openxmlformats.org/officeDocument/2006/relationships" id="261" r:id="Re7cb6b1174884f88"/>
    <p:sldId xmlns:r="http://schemas.openxmlformats.org/officeDocument/2006/relationships" id="262" r:id="R63a5196c7771459a"/>
    <p:sldId xmlns:r="http://schemas.openxmlformats.org/officeDocument/2006/relationships" id="263" r:id="Re28c0cae894447d1"/>
    <p:sldId xmlns:r="http://schemas.openxmlformats.org/officeDocument/2006/relationships" id="264" r:id="R1c98c6457c6c4389"/>
    <p:sldId xmlns:r="http://schemas.openxmlformats.org/officeDocument/2006/relationships" id="265" r:id="R2cee194afdf044c7"/>
    <p:sldId xmlns:r="http://schemas.openxmlformats.org/officeDocument/2006/relationships" id="266" r:id="R651e0ce1ec904ba7"/>
    <p:sldId xmlns:r="http://schemas.openxmlformats.org/officeDocument/2006/relationships" id="267" r:id="R229ab3f10dc74c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9cc8c03774987" /><Relationship Type="http://schemas.openxmlformats.org/officeDocument/2006/relationships/slideMaster" Target="/ppt/slideMasters/slideMaster1.xml" Id="Rc235e0b675fc4017" /><Relationship Type="http://schemas.openxmlformats.org/officeDocument/2006/relationships/notesMaster" Target="/ppt/notesMasters/notesMaster1.xml" Id="Rbd85708999504995" /><Relationship Type="http://schemas.openxmlformats.org/officeDocument/2006/relationships/presProps" Target="/ppt/presProps.xml" Id="R6aa3aa000e6648b0" /><Relationship Type="http://schemas.openxmlformats.org/officeDocument/2006/relationships/tableStyles" Target="/ppt/tableStyles.xml" Id="R53fb9ec56eac47c2" /><Relationship Type="http://schemas.openxmlformats.org/officeDocument/2006/relationships/slide" Target="/ppt/slides/slide1.xml" Id="Re5ec33ec70e448da" /><Relationship Type="http://schemas.openxmlformats.org/officeDocument/2006/relationships/slide" Target="/ppt/slides/slide2.xml" Id="R0116e665b5774dfc" /><Relationship Type="http://schemas.openxmlformats.org/officeDocument/2006/relationships/slide" Target="/ppt/slides/slide3.xml" Id="R33c0d7014443465d" /><Relationship Type="http://schemas.openxmlformats.org/officeDocument/2006/relationships/slide" Target="/ppt/slides/slide4.xml" Id="R9d8d969cb9584c7b" /><Relationship Type="http://schemas.openxmlformats.org/officeDocument/2006/relationships/slide" Target="/ppt/slides/slide5.xml" Id="R0d28c2d2522942f1" /><Relationship Type="http://schemas.openxmlformats.org/officeDocument/2006/relationships/slide" Target="/ppt/slides/slide6.xml" Id="Re7cb6b1174884f88" /><Relationship Type="http://schemas.openxmlformats.org/officeDocument/2006/relationships/slide" Target="/ppt/slides/slide7.xml" Id="R63a5196c7771459a" /><Relationship Type="http://schemas.openxmlformats.org/officeDocument/2006/relationships/slide" Target="/ppt/slides/slide8.xml" Id="Re28c0cae894447d1" /><Relationship Type="http://schemas.openxmlformats.org/officeDocument/2006/relationships/slide" Target="/ppt/slides/slide9.xml" Id="R1c98c6457c6c4389" /><Relationship Type="http://schemas.openxmlformats.org/officeDocument/2006/relationships/slide" Target="/ppt/slides/slide10.xml" Id="R2cee194afdf044c7" /><Relationship Type="http://schemas.openxmlformats.org/officeDocument/2006/relationships/slide" Target="/ppt/slides/slide11.xml" Id="R651e0ce1ec904ba7" /><Relationship Type="http://schemas.openxmlformats.org/officeDocument/2006/relationships/slide" Target="/ppt/slides/slide12.xml" Id="R229ab3f10dc7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9732cbb0c247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bcc14d5ee4b04" /><Relationship Type="http://schemas.openxmlformats.org/officeDocument/2006/relationships/notesMaster" Target="/ppt/notesMasters/notesMaster1.xml" Id="Rb307a78e337240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262d10bb6649f8" /><Relationship Type="http://schemas.openxmlformats.org/officeDocument/2006/relationships/notesMaster" Target="/ppt/notesMasters/notesMaster1.xml" Id="Re594d711fe3c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481382018b4863" /><Relationship Type="http://schemas.openxmlformats.org/officeDocument/2006/relationships/notesMaster" Target="/ppt/notesMasters/notesMaster1.xml" Id="Rc81488c6b11c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da38e80d04a96" /><Relationship Type="http://schemas.openxmlformats.org/officeDocument/2006/relationships/notesMaster" Target="/ppt/notesMasters/notesMaster1.xml" Id="Rff0f923d067743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33af1037644b28" /><Relationship Type="http://schemas.openxmlformats.org/officeDocument/2006/relationships/notesMaster" Target="/ppt/notesMasters/notesMaster1.xml" Id="R39a398ae73dd43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ee0d9d5cf84e15" /><Relationship Type="http://schemas.openxmlformats.org/officeDocument/2006/relationships/notesMaster" Target="/ppt/notesMasters/notesMaster1.xml" Id="Rea535cd15ece4c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4299a791a8448d" /><Relationship Type="http://schemas.openxmlformats.org/officeDocument/2006/relationships/notesMaster" Target="/ppt/notesMasters/notesMaster1.xml" Id="R7aa036623d1a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22c27eb1de4660" /><Relationship Type="http://schemas.openxmlformats.org/officeDocument/2006/relationships/notesMaster" Target="/ppt/notesMasters/notesMaster1.xml" Id="R9db1ecfc4d3843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6989a9e2e043d4" /><Relationship Type="http://schemas.openxmlformats.org/officeDocument/2006/relationships/notesMaster" Target="/ppt/notesMasters/notesMaster1.xml" Id="R76c9a690393b41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28577bcfd04bb8" /><Relationship Type="http://schemas.openxmlformats.org/officeDocument/2006/relationships/notesMaster" Target="/ppt/notesMasters/notesMaster1.xml" Id="R8d3839a5eb724f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beec598f3e4b1a" /><Relationship Type="http://schemas.openxmlformats.org/officeDocument/2006/relationships/notesMaster" Target="/ppt/notesMasters/notesMaster1.xml" Id="R4479a13309e144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100aff0ee54b56" /><Relationship Type="http://schemas.openxmlformats.org/officeDocument/2006/relationships/notesMaster" Target="/ppt/notesMasters/notesMaster1.xml" Id="R86f9fe8a992d49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封面画面来自项目视频抽帧。全套内容依据研究底稿.md、项目视频以及 6 篇开放获取论文整理。</a:t>
            </a:r>
          </a:p>
          <a:p xmlns:a="http://schemas.openxmlformats.org/drawingml/2006/main">
            <a:r>
              <a:t>提示观众：今天讲的是材料路线和化学原理，也会讲清楚哪些结论尚未被验证。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1、4 节；项目视频约 0:00–1:20。</a:t>
            </a:r>
          </a:p>
          <a:p xmlns:a="http://schemas.openxmlformats.org/drawingml/2006/main">
            <a:r>
              <a:t>说明：天然壳的主要目标组分是几丁质，壳聚糖通常由几丁质脱乙酰制得。视频中把壳聚糖作为目标物的说法需要用这一层化学关系补充解释。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4 节及项目视频。</a:t>
            </a:r>
          </a:p>
          <a:p xmlns:a="http://schemas.openxmlformats.org/drawingml/2006/main">
            <a:r>
              <a:t>提示：视频实际展示了多次酸/碱处理、溶液浇铸和袋子演示，但没有给出足以安全复现的完整条件。本页用流程关系帮助观众建立整体地图，不等于实验 SOP。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4、7 节；01_Zullo_2026_Crayfish_Films.pdf；02_Hromis_2026_Crayfish_Extraction.pdf。</a:t>
            </a:r>
          </a:p>
          <a:p xmlns:a="http://schemas.openxmlformats.org/drawingml/2006/main">
            <a:r>
              <a:t>化学式为碳酸盐被酸化的净离子示意式。论文使用盐酸等酸性体系进行脱矿；具体浓度和操作仅作文献事实，不作为家庭复现实验建议。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4、8 节；01_Zullo_2026_Crayfish_Films.pdf；02_Hromis_2026_Crayfish_Extraction.pdf；03_Kadak_2023_Crayfish_Chitosan.xml。</a:t>
            </a:r>
          </a:p>
          <a:p xmlns:a="http://schemas.openxmlformats.org/drawingml/2006/main">
            <a:r>
              <a:t>说明：本页用结构片段和净变化示意解释脱乙酰，实际反应发生在多糖链上且不会 100% 完全转化。论文中的脱乙酰步骤使用高浓度氢氧化钠和高温，属于实验室高风险操作。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3、6 节；04_Chitosan_Starch_2022.pdf；05_CornStarch_Chitosan_2021.pdf。</a:t>
            </a:r>
          </a:p>
          <a:p xmlns:a="http://schemas.openxmlformats.org/drawingml/2006/main">
            <a:r>
              <a:t>示意：壳聚糖氨基在酸性水相中质子化，之后随水分蒸发形成连续膜。甘油常作为增塑剂，能提高柔韧性，但可能牺牲强度并增加吸水。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1、2 节；项目视频约 4:40–5:30、7:40 以后。</a:t>
            </a:r>
          </a:p>
          <a:p xmlns:a="http://schemas.openxmlformats.org/drawingml/2006/main">
            <a:r>
              <a:t>项目视频展示了可成形的袋膜与手工演示，但没有提供购物袋所需的静载、反复提举、提手撕裂、接缝强度和湿态数据。图中“合格”是测试维度，不是项目已通过认证的结论。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2、3、8 节；04_Chitosan_Starch_2022.pdf；05_CornStarch_Chitosan_2021.pdf；06_Chitosan_Cellulose_2024.pdf。</a:t>
            </a:r>
          </a:p>
          <a:p xmlns:a="http://schemas.openxmlformats.org/drawingml/2006/main">
            <a:r>
              <a:t>论文和底稿共同指出：甘油常提高柔韧性但降低强度；壳聚糖/淀粉复合膜吸水明显；纤维素可作为增强方向。具体数值因配方与测试条件而异。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1、2 节；项目视频全片抽帧核对。</a:t>
            </a:r>
          </a:p>
          <a:p xmlns:a="http://schemas.openxmlformats.org/drawingml/2006/main">
            <a:r>
              <a:t>本页是证据边界说明：视频能够证明演示样品出现了相应操作和形态，但不能替代材料表征、力学测试、降解测试或食品接触合规测试。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7 节。</a:t>
            </a:r>
          </a:p>
          <a:p xmlns:a="http://schemas.openxmlformats.org/drawingml/2006/main">
            <a:r>
              <a:t>强调：高浓度氢氧化钠脱乙酰属于最高危步骤之一；本项目当前建议路线是先采购规格明确的壳聚糖做低危膜样，不在家庭环境复现虾壳提取。成品膜暂按非食品接触材料处理。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3、6、7 节。</a:t>
            </a:r>
          </a:p>
          <a:p xmlns:a="http://schemas.openxmlformats.org/drawingml/2006/main">
            <a:r>
              <a:t>这是当前底稿给出的最短材料路线：先用采购壳聚糖建立可重复膜样，再进入袋膜性能，最后才投入自提壳聚糖的设备与试剂。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来源清单与边界说明。论文文件保存在工作区 papers/ 目录；项目底稿明确指出直接制膜研究的原料物种、配方和测试条件不能直接照搬为商品袋方案。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3f043b8de4e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18d58aa5b4a1b" /><Relationship Type="http://schemas.openxmlformats.org/officeDocument/2006/relationships/slideLayout" Target="/ppt/slideLayouts/slideLayout1.xml" Id="Rdd29c02d4a40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9c02d4a40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b5a8cab3b4640" /><Relationship Type="http://schemas.openxmlformats.org/officeDocument/2006/relationships/image" Target="/ppt/media/image.jpeg" Id="R180831ec41304d78" /><Relationship Type="http://schemas.openxmlformats.org/officeDocument/2006/relationships/notesSlide" Target="/ppt/notesSlides/notesSlide1.xml" Id="Rf2558b8b067a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6198cf7b746c7" /><Relationship Type="http://schemas.openxmlformats.org/officeDocument/2006/relationships/image" Target="/ppt/media/image2.jpeg" Id="R6b8f3df4796048a7" /><Relationship Type="http://schemas.openxmlformats.org/officeDocument/2006/relationships/notesSlide" Target="/ppt/notesSlides/notesSlide2.xml" Id="Rb008aaac9673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a056d5a847e3" /><Relationship Type="http://schemas.openxmlformats.org/officeDocument/2006/relationships/notesSlide" Target="/ppt/notesSlides/notesSlide3.xml" Id="R926c02c5c71d49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53c52a4724ed3" /><Relationship Type="http://schemas.openxmlformats.org/officeDocument/2006/relationships/notesSlide" Target="/ppt/notesSlides/notesSlide4.xml" Id="R8a70f4310d2246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71c016ac14c60" /><Relationship Type="http://schemas.openxmlformats.org/officeDocument/2006/relationships/notesSlide" Target="/ppt/notesSlides/notesSlide5.xml" Id="R11d0b4309dae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c469b8b0b4f08" /><Relationship Type="http://schemas.openxmlformats.org/officeDocument/2006/relationships/notesSlide" Target="/ppt/notesSlides/notesSlide6.xml" Id="R5a62b779727a44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bdea582e94dcf" /><Relationship Type="http://schemas.openxmlformats.org/officeDocument/2006/relationships/image" Target="/ppt/media/image3.jpeg" Id="R8dde440956dc4c5b" /><Relationship Type="http://schemas.openxmlformats.org/officeDocument/2006/relationships/notesSlide" Target="/ppt/notesSlides/notesSlide7.xml" Id="R18b11c08b6304e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798d9af7c4137" /><Relationship Type="http://schemas.openxmlformats.org/officeDocument/2006/relationships/notesSlide" Target="/ppt/notesSlides/notesSlide8.xml" Id="R5bbc2cafecc5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86146caf54221" /><Relationship Type="http://schemas.openxmlformats.org/officeDocument/2006/relationships/image" Target="/ppt/media/image4.jpeg" Id="R83a6413df3b84056" /><Relationship Type="http://schemas.openxmlformats.org/officeDocument/2006/relationships/notesSlide" Target="/ppt/notesSlides/notesSlide9.xml" Id="R805d9ccf07714e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1ada87d194c83" /><Relationship Type="http://schemas.openxmlformats.org/officeDocument/2006/relationships/notesSlide" Target="/ppt/notesSlides/notesSlide10.xml" Id="R68bfa5e8ad5141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c15e4d52a48c3" /><Relationship Type="http://schemas.openxmlformats.org/officeDocument/2006/relationships/notesSlide" Target="/ppt/notesSlides/notesSlide11.xml" Id="Rcfa2f6550f644c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b4ffe45f54ac2" /><Relationship Type="http://schemas.openxmlformats.org/officeDocument/2006/relationships/notesSlide" Target="/ppt/notesSlides/notesSlide12.xml" Id="R8320beba65f940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831ec41304d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BD75B-E033-4413-A08E-104C3F5A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3D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1C1EA-1526-4B3F-A073-5723304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从小龙虾壳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到环保塑料袋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068DC-6327-462C-9816-6E3A236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9F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E9F4F2"/>
                </a:solidFill>
                <a:latin typeface="Microsoft YaHei"/>
                <a:ea typeface="Microsoft YaHei"/>
                <a:cs typeface="Microsoft YaHei"/>
              </a:rPr>
              <a:t>一场面向零基础观众的材料化学导览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BEE6A-5FD9-49A3-B954-BE1F2FFC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原料 → 反应 → 成膜 → 袋子 → 证据边界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25989-E24A-42FB-878A-97F1BC92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rPr>
              <a:t>基于项目视频、研究底稿与开放获取论文</a:t>
            </a:r>
          </a:p>
        </p:txBody>
      </p:sp>
    </p:spTree>
    <p:extLst>
      <p:ext uri="{BB962C8B-B14F-4D97-AF65-F5344CB8AC3E}">
        <p14:creationId xmlns:p14="http://schemas.microsoft.com/office/powerpoint/2010/main" val="430926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671D-D0C5-480A-B654-E948B4FB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197C0-AEA5-45F3-B5E9-569AC078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一只虾壳，为什么有机会变成薄膜？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89F53-7C7F-405D-B824-F1E45B64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f3df4796048a7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00200"/>
            <a:ext cx="4724400" cy="4114800"/>
          </a:xfrm>
          <a:prstGeom xmlns:a="http://schemas.openxmlformats.org/drawingml/2006/main" prst="roundRect">
            <a:avLst>
              <a:gd name="adj" fmla="val 46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945AD-A40C-4BCE-9503-320121BE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虾壳不是单一材料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4760F-56B9-49CC-9106-CA79A44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它是一种天然复合结构：矿物、蛋白质和几丁质彼此交织。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CA6D3-0D4C-49DA-A18C-6D38B70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E7794-754C-426A-8E14-B05A7DB4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碳酸钙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052B-ED6D-494C-BFC2-055057DA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让外壳硬，但会妨碍成膜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52229-659E-4A35-944E-D1F26B87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A1145-3492-4F42-A054-28DB2D8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蛋白质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69C59-81C5-423F-B1D2-AC6AC4BE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需要先去除，减少杂质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EA52B-7048-4912-A7D6-FF772414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A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DF96D-1AAB-4565-832F-20FA0A1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几丁质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EF774-F61A-4792-ABD1-AF11627B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真正的高分子骨架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BAAE7-29F8-45BB-BEAB-96D1D73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关键转换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06018-A3C7-4043-BC45-DC27813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把“硬壳”拆成可溶解、可浇铸的高分子。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BE513-F0C3-4939-9573-F0812BB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BA802-1C15-4E7E-9431-C040B40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764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BF3E5-CA7F-4344-871A-2D316B5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52699-F1D3-4DC1-8F32-B4D38FB3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完整路线：从壳到袋，至少要过六道关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8C8DD-3D89-42B4-89E7-77D6621D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E9AB6-53BA-419F-A66A-7281A7A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4E9D7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FF0CC-0CEC-46A5-A978-7BAFEDC4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502DF-76F7-40BB-8B7A-539BC29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清洗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干燥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粉碎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D8AC0-2A1C-4FB1-88E8-790B939C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4A32D-A0B1-4189-81AA-BB252F1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88D6A-4950-4ECD-8AB7-94A42BE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52F60-2157-4685-BF8F-A91D87F2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酸处理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去矿物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2F652-AD8C-47BF-B3A3-E11DC593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15A19-DFEF-4936-B999-12F0211C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2F2EF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4A0A7-EC49-4580-A695-17B6886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5CE79-4BC5-4CDF-963B-7724E17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碱处理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去蛋白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E79DE-6A99-4EB3-9541-4954D520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4CFF4-E7CA-4E80-B735-5DDFB559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DECF5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5A791-C2F7-4F96-AAF7-598BA1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CE34A-C12B-4DEF-8463-4A55FD5F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浓碱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脱乙酰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9F5F0-FC9B-4E79-ABD4-C208B62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CC3D2-CB29-40A6-846D-6D97D3E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6E8C9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EA62C-3C90-47BE-ACC7-37FD2799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CC7D6-8290-4B13-A2F2-3A805D2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醋酸溶解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加入甘油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1DECC-B96D-43B0-95C3-56CED1A7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39EC0-0A79-408F-BAA9-112B5238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6F0E4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4171C-3ADA-4A6B-81BA-FB03A37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0E7C5-9BD4-418F-9FF7-87BDFC20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浇铸干燥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裁切封合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0EA3C-C5CC-405C-A207-F36D8AF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化学上最关键的三次变化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43792-03DB-428D-BAE1-E940B26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去矿物：让无机硬壳离开</a:t>
            </a:r>
          </a:p>
          <a:p xmlns:a="http://schemas.openxmlformats.org/drawingml/2006/main">
            <a:pPr algn="l">
              <a:def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脱乙酰：把几丁质变成可溶的壳聚糖</a:t>
            </a:r>
          </a:p>
          <a:p xmlns:a="http://schemas.openxmlformats.org/drawingml/2006/main">
            <a:pPr algn="l">
              <a:def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成膜：让分散的高分子重新排成连续薄层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B84F7-6DDE-48B5-9A49-2266BDF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14850"/>
            <a:ext cx="24384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73E96-7FB6-4C23-9D61-B3EBD76A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9582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袋子只是最后一步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前面的材料纯度和分子结构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决定了它能不能撑住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03C8AF-747E-42F6-B487-A90B51F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0EFAB-36A0-40E6-BAF9-516B2A70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3762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A42B4-4593-407A-BF34-C4D0DFA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39A7A-DC8A-40FE-9B7E-C768929F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反应一：酸把碳酸钙从壳里“洗掉”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6526E-02E6-4259-9939-D886869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2FC7D-41DF-40FB-A15E-B41E1566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壳中的矿物主要以碳酸钙存在。加入酸后，会出现肉眼可见的气泡。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5BDEA-CE96-4E29-83CC-B1FF0ACF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668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91190-3BE4-4E4D-8118-637C282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CaCO₃  +  2H⁺   →   Ca²⁺  +  CO₂↑  +  H₂O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23F7F-5551-41B8-ADA6-F66A648B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这是一个“酸与碳酸盐反应”的典型例子。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6C2DD-926C-4561-BDE8-B2797CA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气泡来自二氧化碳</a:t>
            </a:r>
          </a:p>
          <a:p xmlns:a="http://schemas.openxmlformats.org/drawingml/2006/main">
            <a:pPr algn="l">
              <a:def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矿物转成可溶的钙盐</a:t>
            </a:r>
          </a:p>
          <a:p xmlns:a="http://schemas.openxmlformats.org/drawingml/2006/main">
            <a:pPr algn="l">
              <a:def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固体骨架变得更轻、更柔软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7B135-B05E-4193-B9F3-308F1B8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476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749A4-12EE-45CA-B447-A2679DA4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为什么必须先去矿？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FD2C3-2239-4D73-858A-238D2BF4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因为无机矿物不溶于后续的醋酸成膜体系，会让膜粗糙、脆，甚至难以连续成形。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9B252-A7D1-412E-B90F-DE1F8D8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78A87-D5F6-4228-9954-DBA3F57D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9747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0197D-2FE3-4782-A52D-F95211F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3B3CB-B3F4-4399-B268-1A802BF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反应二：脱乙酰让几丁质变成壳聚糖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1E7B0-889C-4EE3-806D-C28B08D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020A3-C591-45A7-B185-332F5E14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几丁质与壳聚糖的差别，藏在高分子链上的“侧基”里。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7E1CA-4944-44E3-AB46-ACCB3C5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5720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CF291-FE6A-4616-9F1E-6FB52D31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几丁质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87D26-6135-4207-A1D9-B402E32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—NHCOCH₃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A7D9A-AEFC-44C8-8D95-8D19C00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乙酰基较多</a:t>
            </a:r>
          </a:p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在水中几乎不溶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9237D-EA51-4F20-B749-527263DB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19400"/>
            <a:ext cx="723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2DCD7-F208-41BD-B40B-DAE05493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浓碱 + 加热</a:t>
            </a:r>
          </a:p>
          <a:p xmlns:a="http://schemas.openxmlformats.org/drawingml/2006/main">
            <a:pPr algn="ctr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脱去一部分乙酰基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A1AEC-BABE-42F7-B1E4-0E792834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5720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472B7-C83D-4566-9106-D56222E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壳聚糖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A366E-5126-41C5-A30A-11E19BC5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—NH₂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C668C-7AB3-48C6-A350-DDA080E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92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氨基增多</a:t>
            </a:r>
          </a:p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可被稀酸质子化并溶解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E64FA-18C3-4C7D-AE06-29C3F83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9525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630E8-EF20-41FF-B545-38BAF479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示意式：—NHCOCH₃ + OH⁻  →  —NH₂ + CH₃COO⁻ + H₂O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8624E-5294-4F42-9E9B-A1FEEB16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真实体系是高分子链上的“部分脱乙酰”，脱乙酰度会影响溶解性、强度和成膜表现。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EC706-61E2-4775-80C4-0BC411CA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FAE7D-3E1F-40C6-AA02-F61401DE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6208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F6F8A-4461-4A4C-A38D-6D84C870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C68C0-DAAF-4A03-9F42-4773A08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反应三：壳聚糖溶液怎样变成一张膜？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F7159-B040-40B9-AB02-054EBBB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9DC84-0726-46FB-96AC-52A5D30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成膜不是“把粉末压薄”，而是让高分子先溶解，再在干燥时重新排成连续网络。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FCDBE-8C8C-40BA-B02D-990CBC3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D383D-4DED-4618-B7AD-7B8CA5F5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壳聚糖 + 稀醋酸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5D385-68BE-4105-96EF-5AAFAC7A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—NH₂ + H⁺  ⇌  —NH₃⁺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1841A-84DC-438E-9C53-F6EE999E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氨基被质子化后，聚合物更容易分散在水相里。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3E21-AE3B-4368-BA30-D049069E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590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3EB9F-DA48-4F73-AEE6-3C6CBE8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45720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D195E-1F75-4230-9CDC-76CF81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加入甘油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03BFA-CD20-4634-9201-5D282036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增塑剂：让链段更容易移动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052A2-7D7A-49D6-A8FE-9CBDDDC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浇铸 → 脱泡 → 干燥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18D63-8D9E-406D-911A-BD30F1B3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C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0E272-464D-47E1-BFEC-29A25EF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171450" cy="381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7D1E5-6E6F-4FAB-A8B9-EC835F00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43500"/>
            <a:ext cx="171450" cy="381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0D99A-8305-4DFB-852D-958A91D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43500"/>
            <a:ext cx="171450" cy="381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7A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15FA8-6E03-454E-BBAF-C49C0AB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液体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356B7-72DC-4261-9361-94C312D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3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薄层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B313A-DBFC-4F74-8205-F7CDE2A3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连续膜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D37BA-F229-4631-B61B-0E5FB6A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45720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09527-97C9-4129-9500-C2121396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薄膜的两面性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7F3C1-16C3-4405-A9C9-4D961C0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链间氢键让它有强度</a:t>
            </a:r>
          </a:p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甘油让它不那么脆</a:t>
            </a:r>
          </a:p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但水会重新破坏链间作用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58CFD-D613-441D-8D5F-78BDAD6D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E9AC7-D2FF-42B3-AD86-9E18E2D4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1862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E9D5B-1188-4673-89F7-B0747CC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B0340-7720-46C3-8692-DBB68FBF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从薄膜到袋子：真正难的是“用起来”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98045-755C-4BD8-A1C3-00B690D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e440956dc4c5b"/>
          <a:srcRect xmlns:a="http://schemas.openxmlformats.org/drawingml/2006/main" l="20828" t="0" r="20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619250"/>
            <a:ext cx="4248150" cy="40957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B81BA-50D2-4595-AA82-57B1DA8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09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4E9D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85D79-EEFA-48A4-94AE-835BD5EA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16953-C7CB-46FC-8BB5-D1FB4103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厚度均匀</a:t>
            </a:r>
          </a:p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不易脆裂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5D925-68C0-42EB-A9DA-44D5E94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22B8D-63E1-4B3F-BD4F-3DE9D41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409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5E62B-DFA8-49E0-BECD-148EDB1D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裁切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C43AF-A16D-46D8-90FF-A875639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4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尺寸一致</a:t>
            </a:r>
          </a:p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边缘不撕裂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8ED70-3D88-47BF-B88E-DF47EFD3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E4913-5F35-48BA-BFA6-6C68BDC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409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3948C-81B4-4985-8FA7-027E44C4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23D9C-F13E-42C1-8D36-0CD0F65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封边可靠</a:t>
            </a:r>
          </a:p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提手不脱落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F7639-0247-4BBF-8B55-211A0738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6000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78CCE-0363-4744-B8EB-1C6D2BA7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袋子是否合格，要看干态、湿态、接缝和提手。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FF134-B669-4E8D-928F-4BC37B2F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B2065-A4B1-4DE3-92FB-F5BCA937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1067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24B10-D4EB-4E2B-BECE-4B0EA0A0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8661F-BE88-48B4-8AA7-4BD89AF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材料性能的核心矛盾：强度、柔韧性和耐水性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533B7-FEB3-44C6-BDA6-9D43C261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34063-8E16-44F6-A67D-BFC6162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同一张膜里，分子间作用力和水分子一直在“拉扯”。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00FF7-DAEB-4642-BC3F-93B9D9CA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238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D054-F07B-4F46-9E1E-00A36C7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高分子链靠近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F55C3-B46D-4FCA-B302-8394BD90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氢键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静电作用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链缠结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2C6D4-7D0B-4E13-93C9-5F2E3964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强度 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8CBFA-8D14-4823-8394-DB70003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5905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7AA43-CBEC-41F3-ACEC-D062FA7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3238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7DD52-B5D1-410E-966B-2D1DB56B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加入甘油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79F6B-95FE-4968-B646-51B4AFD5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19450"/>
            <a:ext cx="266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链段更容易移动</a:t>
            </a:r>
          </a:p>
          <a:p xmlns:a="http://schemas.openxmlformats.org/drawingml/2006/main">
            <a:pPr algn="ctr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伸长率 ↑</a:t>
            </a:r>
          </a:p>
          <a:p xmlns:a="http://schemas.openxmlformats.org/drawingml/2006/main">
            <a:pPr algn="ctr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强度可能下降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7B81B-E8BA-427D-A30E-0FB74187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5905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02D9C-51DB-407E-9B85-7B2F1DF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86000"/>
            <a:ext cx="1657350" cy="22860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85708-AE50-4B4A-AD42-F6D2C47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遇水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FD706-6347-4D35-89CB-61CDA4F5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1314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吸水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溶胀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变软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18C8F-53AB-45DF-9AD4-E8ACA8B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048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E3A3C-5F89-41A2-B94F-A8576482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所以“能成膜”不等于“能装湿东西”，更不等于“能替代所有塑料袋”。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E5E12-9FAA-4EAA-9244-DBBFBDE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5E6CF-B998-447B-9AFF-F81428F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8401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00E25-3F3C-41D4-9F6D-6C546772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DA259-4E9D-41AD-971A-608FFA04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视频证明了什么，还没有证明什么？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E8373-55E9-4A5A-B807-98BB0EC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6413df3b84056"/>
          <a:srcRect xmlns:a="http://schemas.openxmlformats.org/drawingml/2006/main" l="14329" t="0" r="143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14500"/>
            <a:ext cx="4953000" cy="3905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E6DDC-929A-4E90-A9AD-ED0DFA88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28875" cy="39052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E97A2-54D6-4EDE-B4A0-DD7846F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视频展示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E2939-EA09-4FB4-A2C5-CB0C2FC3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8097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壳的清洗、粉碎和酸碱处理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白色固体与商品壳聚糖对照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薄膜浇铸、干燥和手工拉扯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袋子可以被拿起来展示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6BE4-338D-4DF5-B2C7-DB27AB0A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67000" cy="390525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76F94-D5BC-45F3-9A2E-70498C9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84E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84E4E"/>
                </a:solidFill>
                <a:latin typeface="Microsoft YaHei"/>
                <a:ea typeface="Microsoft YaHei"/>
                <a:cs typeface="Microsoft YaHei"/>
              </a:rPr>
              <a:t>尚未证明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554A8-22F1-4967-9726-F37E9B2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209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稳定的提取收率和纯度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干湿态拉伸、接缝和提手强度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标准化生物降解或堆肥结果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食品接触、迁移和卫生合规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72087-EA70-4E93-8F80-8E5412A8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把“看起来像袋子”与“可以作为商品使用”分开，是材料研发最重要的判断。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6A2FA-F057-4F3F-AD35-C40A3BF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6985E-D187-4C78-896D-91ED8D31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6148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ED9FE-A692-4B03-97B4-9E55F99C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安全与环保，要一起算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5E32A-10BB-4BD0-B7B7-E499E071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rPr>
              <a:t>原料来自废弃物，不会自动让整条路线低风险、低影响。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5309-A387-4FF8-9757-1F83801F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83E4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E9861-0DD4-4DBF-9932-550FA18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实验安全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08FAD-BAAE-40D5-B86B-DBB94AB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浓酸：腐蚀、放热、产生气泡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热浓碱：深部灼伤，不能在家尝试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废液：酸碱洗涤液不能直接倒下水道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成品：未经检测，不接触食品或饮水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7737-DB35-445F-8B3F-C8A3CF4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1435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34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CFB32-7D28-4B67-A997-100B42B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8E0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A8E0C2"/>
                </a:solidFill>
                <a:latin typeface="Microsoft YaHei"/>
                <a:ea typeface="Microsoft YaHei"/>
                <a:cs typeface="Microsoft YaHei"/>
              </a:rPr>
              <a:t>环境判断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154A1-AECD-4239-AB27-007CB84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看原料：是否利用了餐厨废弃物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看过程：酸碱、水、热能和添加剂用了多少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看去向：最终在什么条件下分解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看替代：是否真的减少了整体环境负担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E37A9-EB85-46C5-B50C-EF73160A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9A6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E8B9F-74E7-43F2-AE4A-91E111D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43575"/>
            <a:ext cx="845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“可降解”是一个需要测试条件的结论，不是材料名字的同义词。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B2B80-F72B-4209-BFD1-F3A0830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安全边界来自研究底稿与论文条件核对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6EC69-DE99-4CB9-BD34-FB14282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2945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F1F93-C534-4054-B04D-E187A81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910D2-827D-46A7-B224-66060D22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最现实的研发顺序：先验证材料，再追溯原料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C184C-0281-4BBB-8D50-3FCB894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ADB22-2F1A-44B8-9DCF-FF0340EA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90EF-DD5C-484D-8F32-541BBD99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A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4BDD4-A0A4-46C4-B899-84D50753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F61B9-9846-44C8-BA08-7DCBBD5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先买规格明确的壳聚糖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6EC1-2DDC-4AD0-9CF6-A89F9E6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用稀醋酸 + 甘油做可重复膜样</a:t>
            </a:r>
          </a:p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先找到“成膜窗口”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4EE9E-E531-43CE-A5A5-D6CCF334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238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3D6ED-72A5-4833-8D16-4FA42015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C8AF2-EF15-4C20-A949-CAC3D4D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702C5-D64C-4541-9C0A-661987BE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再做袋膜性能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584FF-5758-46F0-AB39-96B6C90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记录厚度、湿态、接缝和提手</a:t>
            </a:r>
          </a:p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一次只改变一个变量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2D2F2-398F-424B-951B-6D3A52A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38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DAA16-4997-4510-90BB-1EB72A5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0CE87-664D-4F41-8F5C-63B4D514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DDD6C-F9AB-40A8-B46D-9B5A0C38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最后做虾壳提取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648BC-7380-4F8E-B9D3-43FAFC47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3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在有通风柜、耐腐蚀设备和废液流程的实验室</a:t>
            </a:r>
          </a:p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验证收率、脱乙酰度和批次一致性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91018-B016-4957-AD6F-8C12E12F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今天应该记住的三句话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C4CAE-0C63-4761-8C3B-008D93EA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34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1  虾壳先被拆成几丁质，再转成可成膜的壳聚糖。</a:t>
            </a:r>
          </a:p>
          <a:p xmlns:a="http://schemas.openxmlformats.org/drawingml/2006/main">
            <a:pPr algn="l">
              <a:def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2  袋子的难点是湿态强度、接缝和一致性。</a:t>
            </a:r>
          </a:p>
          <a:p xmlns:a="http://schemas.openxmlformats.org/drawingml/2006/main">
            <a:pPr algn="l">
              <a:def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3  环保与安全都要用测试和完整流程来证明。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61C19-339F-4E0B-BC2D-EE9246F6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0CD45-5653-44E2-AD58-01061DD5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0660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1357A-F2FB-469D-A44B-305BA0F3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55E68-AA2C-4EB2-B124-78295C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资料来源与本次讲解的边界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C601F-627F-4FE8-9724-8E48311D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823FC-A460-4187-8103-1F6C39BD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D058D-CD9C-462E-BF67-9F3F2E4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• 研究底稿.md（2026-09-30）</a:t>
            </a:r>
          </a:p>
          <a:p xmlns:a="http://schemas.openxmlformats.org/drawingml/2006/main">
            <a:pPr algn="l">
              <a:def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• 如何用小龙虾制造可降解塑料袋.mp4</a:t>
            </a:r>
          </a:p>
          <a:p xmlns:a="http://schemas.openxmlformats.org/drawingml/2006/main">
            <a:pPr algn="l">
              <a:def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• 项目视频抽帧：</a:t>
            </a:r>
          </a:p>
          <a:p xmlns:a="http://schemas.openxmlformats.org/drawingml/2006/main">
            <a:pPr algn="l">
              <a:def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  video_0_250.jpg、video_250_500.jpg</a:t>
            </a:r>
          </a:p>
          <a:p xmlns:a="http://schemas.openxmlformats.org/drawingml/2006/main">
            <a:pPr algn="l">
              <a:def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  video_contact_sheet.jpg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7C771-9245-4F67-9D82-7EDFE7FF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开放论文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67EFA-3D7B-49A8-A159-067D2F40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19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01 Zullo 2026 · Molecules · 10.3390/molecules31162819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02 Hromiš 2026 · Gels · 10.3390/gels12080664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03 Kadak 2023 · International Journal of Biology · 10.30498/ijb.2023.323958.3253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04 Chitosan–Starch 2022 · Polymers · 10.3390/polym14020278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05 Cornstarch–Chitosan 2021 · Polymers · 10.3390/polym13244431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06 Chitosan–Cellulose 2024 · Polymers · 10.3390/polym16050568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9ED45-40C0-4FFB-B194-8738E5E9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714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33B09-FE87-4561-BCB3-50898247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读者提示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C3F7C-224D-46AF-8CBC-F03DF44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29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这套PPT用于科普讲解。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它解释化学逻辑与研发判断，</a:t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不替代实验室 SOP、SDS、</a:t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材料检测或食品接触法规。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任何“可降解”“环保”“安全”</a:t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都应对应具体测试条件。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259C9-C520-447C-9020-2424392C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53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E3961-7F95-4C74-8A6F-69C29C7A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资料页 · 项目文件与开放获取论文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2AFCE-0DCA-482F-95C2-6B12CF29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5983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2026-10-01T00:27:51.1970000Z</dcterms:created>
  <dcterms:modified xsi:type="dcterms:W3CDTF">2026-10-01T00:27:51.1970000Z</dcterms:modified>
</coreProperties>
</file>