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651a7d3fbb42dd" /><Relationship Type="http://schemas.openxmlformats.org/officeDocument/2006/relationships/extended-properties" Target="/docProps/app.xml" Id="R1021e29978ca447a" /><Relationship Type="http://schemas.openxmlformats.org/officeDocument/2006/relationships/officeDocument" Target="/ppt/presentation.xml" Id="Rbc53d1730860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fa06f646af4cb6"/>
  </p:sldMasterIdLst>
  <p:notesMasterIdLst>
    <p:notesMasterId xmlns:r="http://schemas.openxmlformats.org/officeDocument/2006/relationships" r:id="R57309b54312047cb"/>
  </p:notesMasterIdLst>
  <p:sldIdLst>
    <p:sldId xmlns:r="http://schemas.openxmlformats.org/officeDocument/2006/relationships" id="256" r:id="R736a1ed077ca463a"/>
    <p:sldId xmlns:r="http://schemas.openxmlformats.org/officeDocument/2006/relationships" id="257" r:id="Rb527d3d52d194d7f"/>
    <p:sldId xmlns:r="http://schemas.openxmlformats.org/officeDocument/2006/relationships" id="258" r:id="R516a5b29934e40b3"/>
    <p:sldId xmlns:r="http://schemas.openxmlformats.org/officeDocument/2006/relationships" id="259" r:id="Raa8a142e62784bb8"/>
    <p:sldId xmlns:r="http://schemas.openxmlformats.org/officeDocument/2006/relationships" id="260" r:id="R74bec63f2cf543e5"/>
    <p:sldId xmlns:r="http://schemas.openxmlformats.org/officeDocument/2006/relationships" id="261" r:id="R99e8125aeaf74fed"/>
    <p:sldId xmlns:r="http://schemas.openxmlformats.org/officeDocument/2006/relationships" id="262" r:id="R7d9fae25ca1b45e2"/>
    <p:sldId xmlns:r="http://schemas.openxmlformats.org/officeDocument/2006/relationships" id="263" r:id="R174d6037814a4cc5"/>
    <p:sldId xmlns:r="http://schemas.openxmlformats.org/officeDocument/2006/relationships" id="264" r:id="R43977b0b2f9e4fe5"/>
    <p:sldId xmlns:r="http://schemas.openxmlformats.org/officeDocument/2006/relationships" id="265" r:id="R358547eed2c24a37"/>
    <p:sldId xmlns:r="http://schemas.openxmlformats.org/officeDocument/2006/relationships" id="266" r:id="Rdc85055e38784eb4"/>
    <p:sldId xmlns:r="http://schemas.openxmlformats.org/officeDocument/2006/relationships" id="267" r:id="R48e84b6494894d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0a5792e8794add" /><Relationship Type="http://schemas.openxmlformats.org/officeDocument/2006/relationships/slideMaster" Target="/ppt/slideMasters/slideMaster1.xml" Id="R54fa06f646af4cb6" /><Relationship Type="http://schemas.openxmlformats.org/officeDocument/2006/relationships/notesMaster" Target="/ppt/notesMasters/notesMaster1.xml" Id="R57309b54312047cb" /><Relationship Type="http://schemas.openxmlformats.org/officeDocument/2006/relationships/presProps" Target="/ppt/presProps.xml" Id="R991a99a065644e8a" /><Relationship Type="http://schemas.openxmlformats.org/officeDocument/2006/relationships/tableStyles" Target="/ppt/tableStyles.xml" Id="Rf8662cb70a7841c8" /><Relationship Type="http://schemas.openxmlformats.org/officeDocument/2006/relationships/slide" Target="/ppt/slides/slide1.xml" Id="R736a1ed077ca463a" /><Relationship Type="http://schemas.openxmlformats.org/officeDocument/2006/relationships/slide" Target="/ppt/slides/slide2.xml" Id="Rb527d3d52d194d7f" /><Relationship Type="http://schemas.openxmlformats.org/officeDocument/2006/relationships/slide" Target="/ppt/slides/slide3.xml" Id="R516a5b29934e40b3" /><Relationship Type="http://schemas.openxmlformats.org/officeDocument/2006/relationships/slide" Target="/ppt/slides/slide4.xml" Id="Raa8a142e62784bb8" /><Relationship Type="http://schemas.openxmlformats.org/officeDocument/2006/relationships/slide" Target="/ppt/slides/slide5.xml" Id="R74bec63f2cf543e5" /><Relationship Type="http://schemas.openxmlformats.org/officeDocument/2006/relationships/slide" Target="/ppt/slides/slide6.xml" Id="R99e8125aeaf74fed" /><Relationship Type="http://schemas.openxmlformats.org/officeDocument/2006/relationships/slide" Target="/ppt/slides/slide7.xml" Id="R7d9fae25ca1b45e2" /><Relationship Type="http://schemas.openxmlformats.org/officeDocument/2006/relationships/slide" Target="/ppt/slides/slide8.xml" Id="R174d6037814a4cc5" /><Relationship Type="http://schemas.openxmlformats.org/officeDocument/2006/relationships/slide" Target="/ppt/slides/slide9.xml" Id="R43977b0b2f9e4fe5" /><Relationship Type="http://schemas.openxmlformats.org/officeDocument/2006/relationships/slide" Target="/ppt/slides/slide10.xml" Id="R358547eed2c24a37" /><Relationship Type="http://schemas.openxmlformats.org/officeDocument/2006/relationships/slide" Target="/ppt/slides/slide11.xml" Id="Rdc85055e38784eb4" /><Relationship Type="http://schemas.openxmlformats.org/officeDocument/2006/relationships/slide" Target="/ppt/slides/slide12.xml" Id="R48e84b6494894d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78e9520d2e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474d8d037b466f" /><Relationship Type="http://schemas.openxmlformats.org/officeDocument/2006/relationships/notesMaster" Target="/ppt/notesMasters/notesMaster1.xml" Id="R66d1a3c55d23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25b301fa6b42a7" /><Relationship Type="http://schemas.openxmlformats.org/officeDocument/2006/relationships/notesMaster" Target="/ppt/notesMasters/notesMaster1.xml" Id="Rf6c171301ddb4a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09d92be81442ee" /><Relationship Type="http://schemas.openxmlformats.org/officeDocument/2006/relationships/notesMaster" Target="/ppt/notesMasters/notesMaster1.xml" Id="R3943bf8dd3d74f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49930a072844fe" /><Relationship Type="http://schemas.openxmlformats.org/officeDocument/2006/relationships/notesMaster" Target="/ppt/notesMasters/notesMaster1.xml" Id="R5120318c9f4b46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db80240194e4d" /><Relationship Type="http://schemas.openxmlformats.org/officeDocument/2006/relationships/notesMaster" Target="/ppt/notesMasters/notesMaster1.xml" Id="Reb5192b70ec148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a9334d1aba43b6" /><Relationship Type="http://schemas.openxmlformats.org/officeDocument/2006/relationships/notesMaster" Target="/ppt/notesMasters/notesMaster1.xml" Id="R7f8b57ebf8394a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8bf121388d4fdf" /><Relationship Type="http://schemas.openxmlformats.org/officeDocument/2006/relationships/notesMaster" Target="/ppt/notesMasters/notesMaster1.xml" Id="R497bbddec075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80059fa4c44734" /><Relationship Type="http://schemas.openxmlformats.org/officeDocument/2006/relationships/notesMaster" Target="/ppt/notesMasters/notesMaster1.xml" Id="Rf1082a8017984f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d10d9f6f7246c0" /><Relationship Type="http://schemas.openxmlformats.org/officeDocument/2006/relationships/notesMaster" Target="/ppt/notesMasters/notesMaster1.xml" Id="R47a19312168b43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af5ca1595f4c79" /><Relationship Type="http://schemas.openxmlformats.org/officeDocument/2006/relationships/notesMaster" Target="/ppt/notesMasters/notesMaster1.xml" Id="R29aee6d8058a4c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879e4611c341d7" /><Relationship Type="http://schemas.openxmlformats.org/officeDocument/2006/relationships/notesMaster" Target="/ppt/notesMasters/notesMaster1.xml" Id="Rd28276d6d8e541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cfe9cdcd7e4c59" /><Relationship Type="http://schemas.openxmlformats.org/officeDocument/2006/relationships/notesMaster" Target="/ppt/notesMasters/notesMaster1.xml" Id="R3d92a07389a14e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封面画面来自项目视频抽帧。全套内容依据研究底稿.md、项目视频以及 6 篇开放获取论文整理。</a:t>
            </a:r>
          </a:p>
          <a:p xmlns:a="http://schemas.openxmlformats.org/drawingml/2006/main">
            <a:r>
              <a:t>提示观众：今天讲的是材料路线和化学原理，也会讲清楚哪些结论尚未被验证。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1、4 节；项目视频约 0:00–1:20。</a:t>
            </a:r>
          </a:p>
          <a:p xmlns:a="http://schemas.openxmlformats.org/drawingml/2006/main">
            <a:r>
              <a:t>说明：天然壳的主要目标组分是几丁质，壳聚糖通常由几丁质脱乙酰制得。视频中把壳聚糖作为目标物的说法需要用这一层化学关系补充解释。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4 节及项目视频。</a:t>
            </a:r>
          </a:p>
          <a:p xmlns:a="http://schemas.openxmlformats.org/drawingml/2006/main">
            <a:r>
              <a:t>提示：视频实际展示了多次酸/碱处理、溶液浇铸和袋子演示，但没有给出足以安全复现的完整条件。本页用流程关系帮助观众建立整体地图，不等于实验 SOP。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4、7 节；01_Zullo_2026_Crayfish_Films.pdf；02_Hromis_2026_Crayfish_Extraction.pdf。</a:t>
            </a:r>
          </a:p>
          <a:p xmlns:a="http://schemas.openxmlformats.org/drawingml/2006/main">
            <a:r>
              <a:t>化学式为碳酸盐被酸化的净离子示意式。论文使用盐酸等酸性体系进行脱矿；具体浓度和操作仅作文献事实，不作为家庭复现实验建议。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4、8 节；01_Zullo_2026_Crayfish_Films.pdf；02_Hromis_2026_Crayfish_Extraction.pdf；03_Kadak_2023_Crayfish_Chitosan.xml。</a:t>
            </a:r>
          </a:p>
          <a:p xmlns:a="http://schemas.openxmlformats.org/drawingml/2006/main">
            <a:r>
              <a:t>说明：本页用结构片段和净变化示意解释脱乙酰，实际反应发生在多糖链上且不会 100% 完全转化。论文中的脱乙酰步骤使用高浓度氢氧化钠和高温，属于实验室高风险操作。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3、6 节；04_Chitosan_Starch_2022.pdf；05_CornStarch_Chitosan_2021.pdf。</a:t>
            </a:r>
          </a:p>
          <a:p xmlns:a="http://schemas.openxmlformats.org/drawingml/2006/main">
            <a:r>
              <a:t>示意：壳聚糖氨基在酸性水相中质子化，之后随水分蒸发形成连续膜。甘油常作为增塑剂，能提高柔韧性，但可能牺牲强度并增加吸水。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1、2 节；项目视频约 4:40–5:30、7:40 以后。</a:t>
            </a:r>
          </a:p>
          <a:p xmlns:a="http://schemas.openxmlformats.org/drawingml/2006/main">
            <a:r>
              <a:t>项目视频展示了可成形的袋膜与手工演示，但没有提供购物袋所需的静载、反复提举、提手撕裂、接缝强度和湿态数据。图中“合格”是测试维度，不是项目已通过认证的结论。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2、3、8 节；04_Chitosan_Starch_2022.pdf；05_CornStarch_Chitosan_2021.pdf；06_Chitosan_Cellulose_2024.pdf。</a:t>
            </a:r>
          </a:p>
          <a:p xmlns:a="http://schemas.openxmlformats.org/drawingml/2006/main">
            <a:r>
              <a:t>论文和底稿共同指出：甘油常提高柔韧性但降低强度；壳聚糖/淀粉复合膜吸水明显；纤维素可作为增强方向。具体数值因配方与测试条件而异。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1、2 节；项目视频全片抽帧核对。</a:t>
            </a:r>
          </a:p>
          <a:p xmlns:a="http://schemas.openxmlformats.org/drawingml/2006/main">
            <a:r>
              <a:t>本页是证据边界说明：视频能够证明演示样品出现了相应操作和形态，但不能替代材料表征、力学测试、降解测试或食品接触合规测试。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7 节。</a:t>
            </a:r>
          </a:p>
          <a:p xmlns:a="http://schemas.openxmlformats.org/drawingml/2006/main">
            <a:r>
              <a:t>强调：高浓度氢氧化钠脱乙酰属于最高危步骤之一；本项目当前建议路线是先采购规格明确的壳聚糖做低危膜样，不在家庭环境复现虾壳提取。成品膜暂按非食品接触材料处理。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来源：研究底稿.md 第 3、6、7 节。</a:t>
            </a:r>
          </a:p>
          <a:p xmlns:a="http://schemas.openxmlformats.org/drawingml/2006/main">
            <a:r>
              <a:t>这是当前底稿给出的最短材料路线：先用采购壳聚糖建立可重复膜样，再进入袋膜性能，最后才投入自提壳聚糖的设备与试剂。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来源清单与边界说明。论文文件保存在工作区 papers/ 目录；项目底稿明确指出直接制膜研究的原料物种、配方和测试条件不能直接照搬为商品袋方案。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65c155cb54c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3d57bff22f4182" /><Relationship Type="http://schemas.openxmlformats.org/officeDocument/2006/relationships/slideLayout" Target="/ppt/slideLayouts/slideLayout1.xml" Id="R52a20b78f8d448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20b78f8d448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ffe7120104d50" /><Relationship Type="http://schemas.openxmlformats.org/officeDocument/2006/relationships/image" Target="/ppt/media/image.jpeg" Id="R82d1d8d374a34503" /><Relationship Type="http://schemas.openxmlformats.org/officeDocument/2006/relationships/notesSlide" Target="/ppt/notesSlides/notesSlide1.xml" Id="Rf3272edb49c148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f20a0ab7b49e9" /><Relationship Type="http://schemas.openxmlformats.org/officeDocument/2006/relationships/image" Target="/ppt/media/image2.jpeg" Id="R2a6aa706b1cb4505" /><Relationship Type="http://schemas.openxmlformats.org/officeDocument/2006/relationships/notesSlide" Target="/ppt/notesSlides/notesSlide2.xml" Id="Rcb63cde0432b4e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7dd854b7c4cbe" /><Relationship Type="http://schemas.openxmlformats.org/officeDocument/2006/relationships/notesSlide" Target="/ppt/notesSlides/notesSlide3.xml" Id="R95e4ba76967745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cdbf46d4b472d" /><Relationship Type="http://schemas.openxmlformats.org/officeDocument/2006/relationships/notesSlide" Target="/ppt/notesSlides/notesSlide4.xml" Id="R77a4dd7a73664d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a3dc2c224420c" /><Relationship Type="http://schemas.openxmlformats.org/officeDocument/2006/relationships/notesSlide" Target="/ppt/notesSlides/notesSlide5.xml" Id="Rdcb6a5d67da24a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41acd17da4df0" /><Relationship Type="http://schemas.openxmlformats.org/officeDocument/2006/relationships/notesSlide" Target="/ppt/notesSlides/notesSlide6.xml" Id="R09f27a14c98742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2a69b9ecc4a7e" /><Relationship Type="http://schemas.openxmlformats.org/officeDocument/2006/relationships/image" Target="/ppt/media/image3.jpeg" Id="R2d2e1c90519f4fca" /><Relationship Type="http://schemas.openxmlformats.org/officeDocument/2006/relationships/notesSlide" Target="/ppt/notesSlides/notesSlide7.xml" Id="Rb521a4664b6a48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7130941824dd5" /><Relationship Type="http://schemas.openxmlformats.org/officeDocument/2006/relationships/notesSlide" Target="/ppt/notesSlides/notesSlide8.xml" Id="Rb10189175b4e4a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86e8ebce849d0" /><Relationship Type="http://schemas.openxmlformats.org/officeDocument/2006/relationships/image" Target="/ppt/media/image4.jpeg" Id="Re6cd8fdc012941e3" /><Relationship Type="http://schemas.openxmlformats.org/officeDocument/2006/relationships/notesSlide" Target="/ppt/notesSlides/notesSlide9.xml" Id="R19430b8e91f440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6a93436024226" /><Relationship Type="http://schemas.openxmlformats.org/officeDocument/2006/relationships/notesSlide" Target="/ppt/notesSlides/notesSlide10.xml" Id="Rc2808332cd8044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cfd3e74314653" /><Relationship Type="http://schemas.openxmlformats.org/officeDocument/2006/relationships/notesSlide" Target="/ppt/notesSlides/notesSlide11.xml" Id="R947d789f45df4d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d219a8c844ca5" /><Relationship Type="http://schemas.openxmlformats.org/officeDocument/2006/relationships/notesSlide" Target="/ppt/notesSlides/notesSlide12.xml" Id="R0e92a5d002a2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1d8d374a345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52C25-7422-4A5B-94F3-7D238078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3D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7E26E-E0E3-4DF1-81E0-C8B2CC38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从小龙虾壳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到环保塑料袋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7B29-B93B-408E-9873-CABA1621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9F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E9F4F2"/>
                </a:solidFill>
                <a:latin typeface="Microsoft YaHei"/>
                <a:ea typeface="Microsoft YaHei"/>
                <a:cs typeface="Microsoft YaHei"/>
              </a:rPr>
              <a:t>一场面向零基础观众的材料化学导览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62CF-3743-4600-90EE-DA038AC6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原料 → 反应 → 成膜 → 袋子 → 证据边界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5EB71-5053-4C7A-A421-62CF0F47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8E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8E7E8"/>
                </a:solidFill>
                <a:latin typeface="Microsoft YaHei"/>
                <a:ea typeface="Microsoft YaHei"/>
                <a:cs typeface="Microsoft YaHei"/>
              </a:rPr>
              <a:t>基于项目视频、研究底稿与开放获取论文</a:t>
            </a:r>
          </a:p>
        </p:txBody>
      </p:sp>
    </p:spTree>
    <p:extLst>
      <p:ext uri="{BB962C8B-B14F-4D97-AF65-F5344CB8AC3E}">
        <p14:creationId xmlns:p14="http://schemas.microsoft.com/office/powerpoint/2010/main" val="707366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B5F0E-DC08-4509-8778-5ACF2811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3AE0B-A659-415F-9C0F-5DA7E2D9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一只虾壳，为什么有机会变成薄膜？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F8B00-A8EB-4BD2-819E-0036FC96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aa706b1cb4505"/>
          <a:srcRect xmlns:a="http://schemas.openxmlformats.org/drawingml/2006/main" l="17708" t="0" r="17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600200"/>
            <a:ext cx="4724400" cy="4114800"/>
          </a:xfrm>
          <a:prstGeom xmlns:a="http://schemas.openxmlformats.org/drawingml/2006/main" prst="roundRect">
            <a:avLst>
              <a:gd name="adj" fmla="val 46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BC5C2-DA67-4FA1-9708-76C0040E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虾壳不是单一材料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E0DD5-5A0F-4A70-8FF7-7F88550C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它是一种天然复合结构：矿物、蛋白质和几丁质彼此交织。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84C54-32E9-4E41-9ABB-26D430F2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C8611-411F-45D7-BF75-292E045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碳酸钙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01869-AF6E-4BA6-A832-18787A14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让外壳硬，但会妨碍成膜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04913-B893-4A4E-9719-EB47E031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A7A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8C8E4-536E-4E26-9015-3B9482E3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蛋白质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14082-111E-451B-A4CA-76DDAEA3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需要先去除，减少杂质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AC7F8-5C19-4E5D-9983-26199027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A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5D1E9-397F-4549-9859-1AF81C66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几丁质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83515-D672-4534-871A-9877412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真正的高分子骨架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199DE-DBAF-436C-920D-C3E33264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关键转换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8F507-F896-47A4-BA9B-B25C5AE9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0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把“硬壳”拆成可溶解、可浇铸的高分子。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5BE07-39FA-4795-B527-307BA86A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77802-4A30-46B4-8432-72A77A38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2889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E84A8B-EDC1-4C96-A659-02F792FF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81BAE-AECC-4DA8-AC45-AA52810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完整路线：从壳到袋，至少要过六道关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D15A7-99EE-44A8-83E0-F4A8D37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9DCB0-0F10-4A7C-8E25-297E4D73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4E9D7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8993F-2D03-48E4-931A-8DAE067A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46B21-1A6C-4049-97BD-3408EACF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清洗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干燥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粉碎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D2AD-A6A2-4AF4-817B-F63C35EE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3F9D5-35AA-47A2-9E86-B002812E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0E961-D573-4819-BCF9-00DBE79B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9AA12-0468-40F2-8282-53C0D6FC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酸处理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去矿物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2D5F2-7A6C-43C1-BFE1-4E501250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996EB-E9D8-432C-8AA2-ECA32119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2F2EF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25935-1C68-41EA-9B1C-3E0649AF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DC046-7D23-4213-9D33-F3F8061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碱处理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去蛋白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15801-9A48-43ED-9A0F-63486DAE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87747-1E00-4FD7-9035-A851445E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DECF5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95B80-3F47-4205-8895-0224DE6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907D2-97D0-46FF-9018-FAB51237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浓碱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脱乙酰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7924F-1B68-4C25-B153-C94AFBF1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020D4-4402-4EFF-9410-D4081AF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6E8C9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694BA-5F09-4049-8F18-611CEB32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02B66-D6D4-4ED1-9B95-C561F7D1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醋酸溶解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加入甘油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F1567-843E-4F37-99C2-4806E2E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956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AE08E-EF0F-412A-8C81-01C8C6FA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90750"/>
            <a:ext cx="1428750" cy="167640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E6F0E4"/>
          </a:solidFill>
          <a:ln xmlns:a="http://schemas.openxmlformats.org/drawingml/2006/main"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8BA97-04B7-4B6D-AFE1-9D21935A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27EFF-6748-4373-8D31-EE68815F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08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浇铸干燥</a:t>
            </a:r>
          </a:p>
          <a:p xmlns:a="http://schemas.openxmlformats.org/drawingml/2006/main">
            <a:pPr algn="l">
              <a:def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裁切封合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C4E57-191A-4283-A9B4-87F16BE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化学上最关键的三次变化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D4C72-8CA2-4AF8-949F-664D4E1A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19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去矿物：让无机硬壳离开</a:t>
            </a:r>
          </a:p>
          <a:p xmlns:a="http://schemas.openxmlformats.org/drawingml/2006/main">
            <a:pPr algn="l">
              <a:def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脱乙酰：把几丁质变成可溶的壳聚糖</a:t>
            </a:r>
          </a:p>
          <a:p xmlns:a="http://schemas.openxmlformats.org/drawingml/2006/main">
            <a:pPr algn="l">
              <a:def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成膜：让分散的高分子重新排成连续薄层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5CC36-0C91-4E49-AA42-1C7A1FE9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14850"/>
            <a:ext cx="24384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8700A4-8F47-451E-BA49-A1717A0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95825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袋子只是最后一步</a:t>
            </a:r>
          </a:p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前面的材料纯度和分子结构</a:t>
            </a:r>
          </a:p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决定了它能不能撑住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B29DC-DB10-452A-B468-1517E1D5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483649-05D7-4539-A954-A4C78ABC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5148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60F5F-143B-43B6-8411-8A36BAC1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0DCBB-59ED-404D-8CF4-C198F90F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反应一：酸把碳酸钙从壳里“洗掉”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2F347-C84A-4BE5-ABF1-4BDA5414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70BDC-B801-49BA-B7E2-0E64663E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壳中的矿物主要以碳酸钙存在。加入酸后，会出现肉眼可见的气泡。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0F2BC-A008-4197-ABBE-39D0B42C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6680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763DE-C9C4-46AB-A967-826B2FE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CaCO₃  +  2H⁺   →   Ca²⁺  +  CO₂↑  +  H₂O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AC14D-0288-4CEE-92DF-171BEDE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这是一个“酸与碳酸盐反应”的典型例子。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3592B-252A-494D-A9BB-43599A7E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气泡来自二氧化碳</a:t>
            </a:r>
          </a:p>
          <a:p xmlns:a="http://schemas.openxmlformats.org/drawingml/2006/main">
            <a:pPr algn="l">
              <a:def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矿物转成可溶的钙盐</a:t>
            </a:r>
          </a:p>
          <a:p xmlns:a="http://schemas.openxmlformats.org/drawingml/2006/main">
            <a:pPr algn="l">
              <a:def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固体骨架变得更轻、更柔软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A1EBD-1948-46E2-AE7F-E1970126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4767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6E135-7C05-4E33-AE37-B26FC89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为什么必须先去矿？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A9411-CFAE-4D3A-AB0E-C83F8EC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因为无机矿物不溶于后续的醋酸成膜体系，会让膜粗糙、脆，甚至难以连续成形。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FE674-1DE3-474C-A94C-8808E284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55A4B-F12E-4F49-B592-ECC472A1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0077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976E2-F7A6-4931-996E-EAE27535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F1C3A-5EF7-4680-B009-FE7C3175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反应二：脱乙酰让几丁质变成壳聚糖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07983-209D-47B2-A72F-F4B7F30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9B5FB-C3CA-4DB0-BEC3-7F501AFB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几丁质与壳聚糖的差别，藏在高分子链上的“侧基”里。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F1A66-DC5A-47B0-8CB5-7F5C3AF9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5720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F0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0780E-5E43-4063-BCBB-E3C88F6C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几丁质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E4129-03F0-4744-8294-B88CB992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—NHCOCH₃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5851E-DA10-429C-8EEB-80DDF794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乙酰基较多</a:t>
            </a:r>
          </a:p>
          <a:p xmlns:a="http://schemas.openxmlformats.org/drawingml/2006/main">
            <a:pPr algn="l">
              <a:def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在水中几乎不溶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21E06-1130-4588-8062-2F66E34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19400"/>
            <a:ext cx="7239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D1277-F322-4C4D-B019-8C9FE190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浓碱 + 加热</a:t>
            </a:r>
          </a:p>
          <a:p xmlns:a="http://schemas.openxmlformats.org/drawingml/2006/main">
            <a:pPr algn="ctr">
              <a:def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脱去一部分乙酰基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4CC3B-4E4C-4678-9A22-F537429E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572000" cy="15621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5F2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5A5AA-E45C-41F9-8A31-599BB506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90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壳聚糖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58DE5-2AE7-4521-9B08-20198D5E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—NH₂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C45ED-6B52-441A-9335-14F32C98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92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氨基增多</a:t>
            </a:r>
          </a:p>
          <a:p xmlns:a="http://schemas.openxmlformats.org/drawingml/2006/main">
            <a:pPr algn="l">
              <a:def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可被稀酸质子化并溶解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BF606-F606-4AD0-B62E-BE19134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9525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56495-63AC-4DF9-9959-8C08C5F0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示意式：—NHCOCH₃ + OH⁻  →  —NH₂ + CH₃COO⁻ + H₂O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1BD48-9EED-4EF3-A4E5-8C8D7A8D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5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真实体系是高分子链上的“部分脱乙酰”，脱乙酰度会影响溶解性、强度和成膜表现。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99948-FCCA-401A-91EF-4E4754B6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545EC-9EAC-4018-83DF-3AB0516E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3174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176EE-CDC2-427F-A3E8-34B9010B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F8241-5BD9-445D-AA8E-BBAE75C7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反应三：壳聚糖溶液怎样变成一张膜？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1B6AF-D678-42AB-A00C-B9500E41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C716A-70A7-4F18-BF9B-5DA39A3C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成膜不是“把粉末压薄”，而是让高分子先溶解，再在干燥时重新排成连续网络。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170DA-DC90-4BE4-8BFF-9344D722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DD761-1C16-418F-A4F6-CE91F04A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壳聚糖 + 稀醋酸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FA1B0-96F9-498A-995A-CFC660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—NH₂ + H⁺  ⇌  —NH₃⁺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167C2-604C-4012-A88F-B800120C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氨基被质子化后，聚合物更容易分散在水相里。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A8C59-6EE9-418E-A7CF-C7953A9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590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A7A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548E2-6B89-4A1F-B677-A81390A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4572000" cy="12192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4F0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12B7B-7AC4-4F83-B48B-2DA4B979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加入甘油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0EC77-2A21-4332-8385-EABDE8F4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67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增塑剂：让链段更容易移动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FF9A5-7731-4571-B47D-02436A8E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浇铸 → 脱泡 → 干燥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D8AD1-3175-48C3-BA35-18FB90DF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C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07EC2-6E4B-4865-AA80-23C2D5AE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171450" cy="381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BB201-D727-40BF-B572-4B05E235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43500"/>
            <a:ext cx="171450" cy="381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A7A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1B5EF-4ED8-4F44-86E9-A78FF107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43500"/>
            <a:ext cx="171450" cy="381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7A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21F1F-CA83-490E-858F-B956EA00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液体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9D2C9-24CF-4B32-87E5-03FCFDDE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34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薄层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40F44-83AA-4E4A-A6F5-EF3A3030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34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连续膜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E0D52-9B27-44B9-8EF6-A922899A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45720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7A3B5-B08A-4C19-BE08-46663FF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薄膜的两面性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00A02-6BA1-4BF0-9949-775B0DCF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链间氢键让它有强度</a:t>
            </a:r>
          </a:p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甘油让它不那么脆</a:t>
            </a:r>
          </a:p>
          <a:p xmlns:a="http://schemas.openxmlformats.org/drawingml/2006/main">
            <a:pPr algn="ctr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但水会重新破坏链间作用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27D5C-162A-429A-87F0-5395DDDB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1B515-B06A-48D0-A948-45949EE7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2239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BE510-3200-474E-B811-482E3233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4AC94-FFAF-4598-A517-D22369D9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从薄膜到袋子：真正难的是“用起来”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E72EA-02AD-4980-9478-AF44D1C5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e1c90519f4fca"/>
          <a:srcRect xmlns:a="http://schemas.openxmlformats.org/drawingml/2006/main" l="20828" t="0" r="208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619250"/>
            <a:ext cx="4248150" cy="40957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385EF-22BE-493C-9CFA-FE12D32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09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4E9D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5D184-7C8C-4FF3-B196-A70A3282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54FE0-B263-4088-8D47-186182EE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厚度均匀</a:t>
            </a:r>
          </a:p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不易脆裂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7630F-AE2B-4264-BD89-8FA90453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0EEFF-38CD-4C22-9DFE-A571C4F0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409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2141D-2FDC-402E-95BE-46C124E7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裁切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401C4-17E1-40BE-A359-960FBFAD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147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尺寸一致</a:t>
            </a:r>
          </a:p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边缘不撕裂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A4E8E-F183-438B-B37A-F9E81D6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6BD0E-9511-4AF4-ABCB-D479B66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409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4F0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42375-37AD-4176-ACBB-42FA84F5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连接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88C9A-CB18-409D-A8F9-6B5FEF39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封边可靠</a:t>
            </a:r>
          </a:p>
          <a:p xmlns:a="http://schemas.openxmlformats.org/drawingml/2006/main">
            <a:pPr algn="l">
              <a:def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提手不脱落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B7A97-BFD3-4A9B-9894-5FF8403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6000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FE420-42F7-4779-B1B6-938A2B44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袋子是否合格，要看干态、湿态、接缝和提手。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3CA8B-F22B-46B8-99CC-5C1D2666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3FD29-E209-47EA-8D1D-7B4796D7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0613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E2A2E-8120-4947-AA16-CA37BD16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FE1C5-B3BE-4BA3-809C-B581134D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材料性能的核心矛盾：强度、柔韧性和耐水性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0A2A5-0702-4B72-A884-850B6AB2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1EDC1-9133-41E5-8089-A4D5449F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同一张膜里，分子间作用力和水分子一直在“拉扯”。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B60BA-4B76-4BF2-90EB-FFC55840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238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0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42C63-E9A6-4A58-8FE6-7DAEDCA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高分子链靠近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5047B-B36C-4575-81DF-34412707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氢键</a:t>
            </a:r>
          </a:p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静电作用</a:t>
            </a:r>
          </a:p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链缠结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E80A9-5043-4F67-9D5B-B86EE19A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强度 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25E39-951A-4268-80F0-B2E3E8F6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5905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1127A-A931-4FA8-B51B-5029C9BC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3238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84018-1099-402B-A337-D908F674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加入甘油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E2AEE-4EC9-40C5-8BC7-D67B48F8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19450"/>
            <a:ext cx="266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链段更容易移动</a:t>
            </a:r>
          </a:p>
          <a:p xmlns:a="http://schemas.openxmlformats.org/drawingml/2006/main">
            <a:pPr algn="ctr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伸长率 ↑</a:t>
            </a:r>
          </a:p>
          <a:p xmlns:a="http://schemas.openxmlformats.org/drawingml/2006/main">
            <a:pPr algn="ctr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强度可能下降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5033D-48F9-45E3-8732-F5EE05E4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5905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A7A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10172-2458-47F7-BFE9-E6E9B7CD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86000"/>
            <a:ext cx="1657350" cy="22860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F2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1F7F5-0BD2-4E12-AB53-1AD6013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遇水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38FF1-4384-4921-81C1-0555951D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76600"/>
            <a:ext cx="1314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吸水</a:t>
            </a:r>
          </a:p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溶胀</a:t>
            </a:r>
          </a:p>
          <a:p xmlns:a="http://schemas.openxmlformats.org/drawingml/2006/main">
            <a:pPr algn="ctr">
              <a:def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变软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0FFBB-9DED-46CE-89E4-553C75AF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90487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DEE86-B864-4979-A987-204C1139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所以“能成膜”不等于“能装湿东西”，更不等于“能替代所有塑料袋”。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B85C5-3F7C-450F-B5A2-F512730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71285-D0F2-4FE0-A071-2D50BACA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3183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2A262-1E7D-44E8-A2DD-BB317EA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E8647-44AA-4EC8-877B-802A28CD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视频证明了什么，还没有证明什么？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A5A76-D2AD-48C5-87FE-0DC44949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d8fdc012941e3"/>
          <a:srcRect xmlns:a="http://schemas.openxmlformats.org/drawingml/2006/main" l="14329" t="0" r="143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14500"/>
            <a:ext cx="4953000" cy="39052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43609-8919-43A8-8187-B2BF5DB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428875" cy="39052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E5F2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661A8-81DD-462B-8A82-EBA85CF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视频展示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33612-C26A-42E1-A8C8-9AD0E552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18097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壳的清洗、粉碎和酸碱处理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白色固体与商品壳聚糖对照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薄膜浇铸、干燥和手工拉扯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袋子可以被拿起来展示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44769-BF0B-4BCB-AAD8-00AA9496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667000" cy="3905250"/>
          </a:xfrm>
          <a:prstGeom xmlns:a="http://schemas.openxmlformats.org/drawingml/2006/main" prst="roundRect">
            <a:avLst>
              <a:gd name="adj" fmla="val 7857"/>
            </a:avLst>
          </a:prstGeom>
          <a:solidFill xmlns:a="http://schemas.openxmlformats.org/drawingml/2006/main">
            <a:srgbClr val="FBE4D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F6CA8-4D6F-402C-B19E-2B2F2BB7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81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84E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B84E4E"/>
                </a:solidFill>
                <a:latin typeface="Microsoft YaHei"/>
                <a:ea typeface="Microsoft YaHei"/>
                <a:cs typeface="Microsoft YaHei"/>
              </a:rPr>
              <a:t>尚未证明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9786B-9406-47BD-9BFC-EACC6753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33650"/>
            <a:ext cx="209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稳定的提取收率和纯度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干湿态拉伸、接缝和提手强度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标准化生物降解或堆肥结果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食品接触、迁移和卫生合规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55C12-4D27-430A-8653-FAE5E61B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把“看起来像袋子”与“可以作为商品使用”分开，是材料研发最重要的判断。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CBA6B-3051-41FE-965F-A9B29C8F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E00D0-9324-4036-9DA1-0F0E255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6102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1BE26-0268-4782-91A9-01B9759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安全与环保，要一起算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E2517-947E-49FA-A715-9E82A694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E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D8E7E8"/>
                </a:solidFill>
                <a:latin typeface="Microsoft YaHei"/>
                <a:ea typeface="Microsoft YaHei"/>
                <a:cs typeface="Microsoft YaHei"/>
              </a:rPr>
              <a:t>原料来自废弃物，不会自动让整条路线低风险、低影响。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274F5-EF8C-4802-83F5-62E0D06E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0482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83E4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E3814-AF59-4C11-8629-9FF4C6DE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实验安全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DE278-CC94-4815-9DA8-3D69CEFC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38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浓酸：腐蚀、放热、产生气泡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热浓碱：深部灼伤，不能在家尝试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废液：酸碱洗涤液不能直接倒下水道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成品：未经检测，不接触食品或饮水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FACD0-C568-4693-B9DE-CD461255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1435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34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A6BC1-90B6-41E1-A83D-61E0362C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24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A8E0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A8E0C2"/>
                </a:solidFill>
                <a:latin typeface="Microsoft YaHei"/>
                <a:ea typeface="Microsoft YaHei"/>
                <a:cs typeface="Microsoft YaHei"/>
              </a:rPr>
              <a:t>环境判断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EF21F-78B5-471F-850D-5071D74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看原料：是否利用了餐厨废弃物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看过程：酸碱、水、热能和添加剂用了多少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看去向：最终在什么条件下分解</a:t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看替代：是否真的减少了整体环境负担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F8C2F-4DE1-434A-B43E-B31D10B4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19A6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53236-61B1-4800-A204-29629245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43575"/>
            <a:ext cx="845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“可降解”是一个需要测试条件的结论，不是材料名字的同义词。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ABFC9-01B5-4819-8094-0A57B25C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安全边界来自研究底稿与论文条件核对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20E4B-0502-4123-980F-1B75C6DD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7824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FEF23-372D-4C3A-A3FC-DD4CCB23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485A0-DD5E-453B-928A-B7EA6407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最现实的研发顺序：先验证材料，再追溯原料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35572-B30D-44E0-9369-E03FCD93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7BFA5-78D8-48A6-B6B5-165C67A9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163D1-EF1B-4E00-BF45-B249BC67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A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FA579-004A-43ED-B7B5-FD73887A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2B4F0-3A04-454A-9483-EF006B4D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先买规格明确的壳聚糖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C6C19-870E-4E2F-84DB-4D3B8FA9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用稀醋酸 + 甘油做可重复膜样</a:t>
            </a:r>
          </a:p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先找到“成膜窗口”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C7B20-A24C-436D-95C1-8C6548AA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238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2860C-B6B2-4E0F-953F-1F92CDEC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238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C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E6644-93BD-4B3D-9D6E-579025AE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FF0B8-B73A-48BD-8EFB-037FC35C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再做袋膜性能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B1BCA-2E2F-4049-9442-8B20798C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记录厚度、湿态、接缝和提手</a:t>
            </a:r>
          </a:p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一次只改变一个变量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B7CDA-DE89-41AE-81F3-5ABE04E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238500" cy="2476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579D3-31AA-469C-BC55-B3215446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238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86F67-803F-4C08-98D3-A1F930C9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65007-8F3D-48DD-A1C7-2DB00DB1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最后做虾壳提取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7DAD5-877D-4885-AEDB-E5BD3AEC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3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在有通风柜、耐腐蚀设备和废液流程的实验室</a:t>
            </a:r>
          </a:p>
          <a:p xmlns:a="http://schemas.openxmlformats.org/drawingml/2006/main">
            <a:pPr algn="l">
              <a:def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验证收率、脱乙酰度和批次一致性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BD079-AE21-419A-84E5-F8B92907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今天应该记住的三句话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42761-023D-4E45-9388-26F1572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034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1  虾壳先被拆成几丁质，再转成可成膜的壳聚糖。</a:t>
            </a:r>
          </a:p>
          <a:p xmlns:a="http://schemas.openxmlformats.org/drawingml/2006/main">
            <a:pPr algn="l">
              <a:def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2  袋子的难点是湿态强度、接缝和一致性。</a:t>
            </a:r>
          </a:p>
          <a:p xmlns:a="http://schemas.openxmlformats.org/drawingml/2006/main">
            <a:pPr algn="l">
              <a:def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3  环保与安全都要用测试和完整流程来证明。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8B849-D1BD-445C-9584-9690A494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讲解材料 · 研究底稿与开放论文整理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0C419-C871-4228-829E-2F77C9D9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85120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ED691-71C8-4114-B29C-F6011C4B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小龙虾壳制环保塑料袋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911CB-1DFE-42DF-AE9F-2E123599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C2D3D"/>
                </a:solidFill>
                <a:latin typeface="Microsoft YaHei"/>
                <a:ea typeface="Microsoft YaHei"/>
                <a:cs typeface="Microsoft YaHei"/>
              </a:rPr>
              <a:t>资料来源与本次讲解的边界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2F550-C593-44E5-A3E5-38A73590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4879A-F190-4B8A-BB6E-000B84A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项目资料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E47B5-196D-4A9F-8D8F-94B3249C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• 研究底稿.md（2026-09-30）</a:t>
            </a:r>
          </a:p>
          <a:p xmlns:a="http://schemas.openxmlformats.org/drawingml/2006/main">
            <a:pPr algn="l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• 如何用小龙虾制造可降解塑料袋.mp4</a:t>
            </a:r>
          </a:p>
          <a:p xmlns:a="http://schemas.openxmlformats.org/drawingml/2006/main">
            <a:pPr algn="l">
              <a:def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• 项目视频抽帧：video_0_250.jpg、video_250_500.jpg、video_contact_sheet.jpg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186B3-8D47-4533-A2CA-68580D6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开放论文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1694C-8F82-4F0A-90E5-B14E7E92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191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01 Zullo 2026 · Molecules · 10.3390/molecules31162819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02 Hromiš 2026 · Gels · 10.3390/gels12080664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03 Kadak 2023 · International Journal of Biology · 10.30498/ijb.2023.323958.3253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04 Chitosan–Starch 2022 · Polymers · 10.3390/polym14020278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05 Cornstarch–Chitosan 2021 · Polymers · 10.3390/polym13244431</a:t>
            </a:r>
          </a:p>
          <a:p xmlns:a="http://schemas.openxmlformats.org/drawingml/2006/main">
            <a:pPr algn="l">
              <a:def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32E"/>
                </a:solidFill>
                <a:latin typeface="Microsoft YaHei"/>
                <a:ea typeface="Microsoft YaHei"/>
                <a:cs typeface="Microsoft YaHei"/>
              </a:rPr>
              <a:t>06 Chitosan–Cellulose 2024 · Polymers · 10.3390/polym16050568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85D29-4F12-47E0-B333-B5243619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3714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C2D3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547E4-7CF2-4B57-BFBA-C0ED851D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19A62"/>
                </a:solidFill>
                <a:latin typeface="Microsoft YaHei"/>
                <a:ea typeface="Microsoft YaHei"/>
                <a:cs typeface="Microsoft YaHei"/>
              </a:rPr>
              <a:t>读者提示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B76C0-9B06-48D6-893A-7FE69D43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432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329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这套PPT用于科普讲解。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它解释化学逻辑与研发判断，</a:t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不替代实验室 SOP、SDS、</a:t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材料检测或食品接触法规。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任何“可降解”“环保”“安全”</a:t>
            </a:r>
          </a:p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都应对应具体测试条件。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830F4-1AA2-4053-B79B-8B5DADE4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53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D96C3B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ADA72-9799-43A0-8D28-D9A38C5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资料页 · 项目文件与开放获取论文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0D066-C513-44DB-81D2-C9E30E34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A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6735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2026-10-01T00:24:06.9350000Z</dcterms:created>
  <dcterms:modified xsi:type="dcterms:W3CDTF">2026-10-01T00:24:06.9350000Z</dcterms:modified>
</coreProperties>
</file>